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PITCH DECK  · 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FASTag Chain Reaction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1463040" cy="7315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Stop the wave before it starts.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[Team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2064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4A261"/>
                </a:solidFill>
                <a:latin typeface="Calibri"/>
              </a:rPr>
              <a:t>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4068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[Hackathon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0B2545"/>
                </a:solidFill>
                <a:latin typeface="Calibri"/>
              </a:rPr>
              <a:t>One car. 71 in our sim.</a:t>
            </a:r>
          </a:p>
          <a:p>
            <a:pPr algn="l"/>
            <a:r>
              <a:rPr sz="5400" b="1">
                <a:solidFill>
                  <a:srgbClr val="0B2545"/>
                </a:solidFill>
                <a:latin typeface="Calibri"/>
              </a:rPr>
              <a:t>200+ in the real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6949440" cy="2194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At any Indian toll plaza, a single FASTag failure — low balance, blacklisted tag, vehicle-class mismatch, or expired KYC — stops one car for 90+ seconds. Our single-lane Nagel-Schreckenberg simulator shows this queues 71 vehicles with 3.1 min of residual slowdown. Extrapolated to a typical 3-lane Indian toll at ~600 vph, the wave-equivalent affects 200+ vehicles over 12-15 minutes (model extrapolation).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657600" cy="23774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3200400"/>
            <a:ext cx="109728" cy="23774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9" y="34747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4A261"/>
                </a:solidFill>
                <a:latin typeface="Calibri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9" y="4023360"/>
            <a:ext cx="31089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Every Indian who's driven a highway has lived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THE CHAIN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0B2545"/>
                </a:solidFill>
                <a:latin typeface="Calibri"/>
              </a:rPr>
              <a:t>How one stop becomes a wave.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40"/>
            <a:ext cx="10881360" cy="54864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0170" y="2194560"/>
            <a:ext cx="1280160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0170" y="2267712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T+0s</a:t>
            </a:r>
          </a:p>
        </p:txBody>
      </p:sp>
      <p:sp>
        <p:nvSpPr>
          <p:cNvPr id="9" name="Oval 8"/>
          <p:cNvSpPr/>
          <p:nvPr/>
        </p:nvSpPr>
        <p:spPr>
          <a:xfrm>
            <a:off x="1872234" y="389534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86534" y="2697480"/>
            <a:ext cx="27432" cy="1197864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25374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One car stops.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FASTag fails at the gantry.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0510" y="2194560"/>
            <a:ext cx="1280160" cy="502920"/>
          </a:xfrm>
          <a:prstGeom prst="rect">
            <a:avLst/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0510" y="2267712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T+30s</a:t>
            </a:r>
          </a:p>
        </p:txBody>
      </p:sp>
      <p:sp>
        <p:nvSpPr>
          <p:cNvPr id="14" name="Oval 13"/>
          <p:cNvSpPr/>
          <p:nvPr/>
        </p:nvSpPr>
        <p:spPr>
          <a:xfrm>
            <a:off x="4592574" y="3895344"/>
            <a:ext cx="256032" cy="256032"/>
          </a:xfrm>
          <a:prstGeom prst="ellipse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6874" y="2697480"/>
            <a:ext cx="27432" cy="1197864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1860" y="4251960"/>
            <a:ext cx="25374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8 cars queued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behind the stopped vehicle.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0850" y="2194560"/>
            <a:ext cx="1280160" cy="50292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0850" y="2267712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T+90s</a:t>
            </a:r>
          </a:p>
        </p:txBody>
      </p:sp>
      <p:sp>
        <p:nvSpPr>
          <p:cNvPr id="19" name="Oval 18"/>
          <p:cNvSpPr/>
          <p:nvPr/>
        </p:nvSpPr>
        <p:spPr>
          <a:xfrm>
            <a:off x="7312914" y="3895344"/>
            <a:ext cx="256032" cy="25603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27214" y="2697480"/>
            <a:ext cx="27432" cy="1197864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251960"/>
            <a:ext cx="25374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~40 cars queued.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Wave travels backward at ~20 km/h.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1190" y="2194560"/>
            <a:ext cx="12801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1190" y="2267712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T+3min</a:t>
            </a:r>
          </a:p>
        </p:txBody>
      </p:sp>
      <p:sp>
        <p:nvSpPr>
          <p:cNvPr id="24" name="Oval 23"/>
          <p:cNvSpPr/>
          <p:nvPr/>
        </p:nvSpPr>
        <p:spPr>
          <a:xfrm>
            <a:off x="10033254" y="3895344"/>
            <a:ext cx="256032" cy="25603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47554" y="2697480"/>
            <a:ext cx="27432" cy="1197864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2540" y="4251960"/>
            <a:ext cx="25374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71 cars (sim) / 200+ (3-lane extrap).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Calibri"/>
              </a:rPr>
              <a:t>Residual slowdown 3-15 min.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532120"/>
            <a:ext cx="109728" cy="7772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41848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B2545"/>
                </a:solidFill>
                <a:latin typeface="Calibri"/>
              </a:rPr>
              <a:t>“Sugiyama 2008 proved phantom jams are real wave physics. Stern 2018 showed waves can only be dampened by controlled vehicles — so we prevent the trigger instead.”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Calibri"/>
              </a:rPr>
              <a:t>5km Pre-Warning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We intercept every FASTag failure before it ever reaches the gantry.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3520440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520440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971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4A261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Geofence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971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Detect approach to every Indian toll plaza in real time, 5 km 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6260" y="2651760"/>
            <a:ext cx="3520440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6260" y="2651760"/>
            <a:ext cx="3520440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0580" y="2971800"/>
            <a:ext cx="2971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4A261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0580" y="3794760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4-Mode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0580" y="4389120"/>
            <a:ext cx="2971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Verify balance, blacklist, vehicle class, and KYC status — all four failure modes, in one 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651760"/>
            <a:ext cx="3520440" cy="2834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651760"/>
            <a:ext cx="3520440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71800"/>
            <a:ext cx="2971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4A261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94760"/>
            <a:ext cx="2971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One-Tap UPI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389120"/>
            <a:ext cx="2971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Recharge or resolve directly from the warning — before the cascade can start.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Rajmargyatra does balance + recharge. We add location-based readiness + cross-bank aggregation.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DEMO +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0B2545"/>
                </a:solidFill>
                <a:latin typeface="Calibri"/>
              </a:rPr>
              <a:t>What it looks like. What it saves.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840480" cy="3657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47472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840480" cy="3657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B0B0B0"/>
                </a:solidFill>
                <a:latin typeface="Calibri"/>
              </a:rPr>
              <a:t>[App Mockup Screenshot]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011680"/>
            <a:ext cx="658368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109728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219456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WITHOUT THE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60320"/>
            <a:ext cx="6126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71-car queue (sim)  ·  3.1-min slowdown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15468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Single-lane Nagel-Schreckenberg. 3-lane extrapolation: 200+ cars / 12-15 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3703320"/>
            <a:ext cx="658368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3703320"/>
            <a:ext cx="109728" cy="1554480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88620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WITH THE APP (4% ADOPTION)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251960"/>
            <a:ext cx="6126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6A77D"/>
                </a:solidFill>
                <a:latin typeface="Calibri"/>
              </a:rPr>
              <a:t>Trigger prevented. 7 cars / 0 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846320"/>
            <a:ext cx="6126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Simulation: 4% of drivers warned 5 km out keeps the cascade below critical density.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₹3,800 Cr/year in fuel + time waste eliminated at 500k-user scale  ·  est. from NHAI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IMPACT +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0B2545"/>
                </a:solidFill>
                <a:latin typeface="Calibri"/>
              </a:rPr>
              <a:t>Who wins. What we want.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2044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20440" cy="164592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71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FOR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Minutes saved.</a:t>
            </a:r>
          </a:p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Fuel saved.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971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Skip the wave entirely. Recharge once, drive through.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6260" y="2103120"/>
            <a:ext cx="352044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6260" y="2103120"/>
            <a:ext cx="3520440" cy="1645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0580" y="2423160"/>
            <a:ext cx="2971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2545"/>
                </a:solidFill>
                <a:latin typeface="Calibri"/>
              </a:rPr>
              <a:t>FOR NHAI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0580" y="2834640"/>
            <a:ext cx="2971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Live toll plaza</a:t>
            </a:r>
          </a:p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health dashboard.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0580" y="3977639"/>
            <a:ext cx="2971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Post-toll telemetry layer — our product moat and NHAI's missing eye.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103120"/>
            <a:ext cx="3520440" cy="2743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03120"/>
            <a:ext cx="3520440" cy="164592"/>
          </a:xfrm>
          <a:prstGeom prst="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2971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6A77D"/>
                </a:solidFill>
                <a:latin typeface="Calibri"/>
              </a:rPr>
              <a:t>FOR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834640"/>
            <a:ext cx="2971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Measurable highway</a:t>
            </a:r>
          </a:p>
          <a:p>
            <a:pPr algn="l"/>
            <a:r>
              <a:rPr sz="2200" b="1">
                <a:solidFill>
                  <a:srgbClr val="0B2545"/>
                </a:solidFill>
                <a:latin typeface="Calibri"/>
              </a:rPr>
              <a:t>throughput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39"/>
            <a:ext cx="2971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Compounding national productivity from a single backend integration.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12080"/>
            <a:ext cx="10881360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12080"/>
            <a:ext cx="164592" cy="105156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  <a:latin typeface="Calibri"/>
              </a:rPr>
              <a:t>THE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Pilot with one toll on the Mumbai–Pune Expressway.  90 days.  Measurable wave reduction.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  <a:latin typeface="Calibri"/>
              </a:rPr>
              <a:t>FASTag Chain Reaction  ·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